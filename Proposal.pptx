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2" r:id="rId4"/>
    <p:sldId id="261" r:id="rId5"/>
    <p:sldId id="260" r:id="rId6"/>
    <p:sldId id="258" r:id="rId7"/>
    <p:sldId id="259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246" y="-4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e38c1fb3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e38c1fb3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e38c1fb3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e38c1fb3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e38c1fb3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e38c1fb3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668375"/>
            <a:ext cx="8520600" cy="104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&lt;O2A&gt;</a:t>
            </a:r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471188" y="3674725"/>
            <a:ext cx="8520600" cy="16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Contact email: </a:t>
            </a:r>
            <a:r>
              <a:rPr lang="en-US" sz="1800" dirty="0">
                <a:solidFill>
                  <a:schemeClr val="dk1"/>
                </a:solidFill>
              </a:rPr>
              <a:t>tirtaajin33@gmail.com</a:t>
            </a:r>
            <a:r>
              <a:rPr lang="en" sz="1800" dirty="0">
                <a:solidFill>
                  <a:schemeClr val="dk1"/>
                </a:solidFill>
              </a:rPr>
              <a:t>	           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816B2-74E5-439B-823B-42FACCB12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1938899"/>
            <a:ext cx="8520600" cy="1272133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Tirta Aji</a:t>
            </a:r>
          </a:p>
          <a:p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Farid Al </a:t>
            </a:r>
            <a:r>
              <a:rPr lang="en-US" sz="9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Ayubi</a:t>
            </a:r>
            <a:endParaRPr lang="en-US" sz="9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Jason Frederick K</a:t>
            </a:r>
          </a:p>
          <a:p>
            <a:r>
              <a:rPr lang="en-US" sz="9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Daffa</a:t>
            </a:r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information</a:t>
            </a:r>
            <a:endParaRPr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</a:rPr>
              <a:t>Goal</a:t>
            </a:r>
            <a:endParaRPr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lvl="0" indent="0" algn="just">
              <a:spcBef>
                <a:spcPts val="1200"/>
              </a:spcBef>
              <a:buNone/>
            </a:pPr>
            <a:r>
              <a:rPr lang="en-US" dirty="0">
                <a:solidFill>
                  <a:schemeClr val="dk1"/>
                </a:solidFill>
              </a:rPr>
              <a:t>This project aims to design, verify, and tape out a fully open-source, parameterized serial communication IP block — integrating UART, I2C, and SPI controllers — targeting the GlobalFoundries GF180MCUD process node using the IIC-OSIC-TOOLS and OpenLane2 digital design </a:t>
            </a:r>
            <a:r>
              <a:rPr lang="en-US" dirty="0" err="1">
                <a:solidFill>
                  <a:schemeClr val="dk1"/>
                </a:solidFill>
              </a:rPr>
              <a:t>flow.By</a:t>
            </a:r>
            <a:r>
              <a:rPr lang="en-US" dirty="0">
                <a:solidFill>
                  <a:schemeClr val="dk1"/>
                </a:solidFill>
              </a:rPr>
              <a:t> exposing a rich set of compile-time Verilog parameters (such as protocol enable flags, FIFO depth, data-path width, and addressing mode) alongside a runtime-configurable APB-Lite register interface, the IP is designed to serve as a reusable, community-grade building block that any open-source SoC integrator can instantiate and customize without modification to the core RTL.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BC0B4-E994-4A3B-B852-13F3F0B2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860E9-CFA8-47BD-89FA-16FE2F5AC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Design – High Level Proposal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pPr marL="11430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	The IP is structured into four independent Verilog modules: a UART block (8N1/8N2, programmable baud divider, parameterized TX/RX FIFO depth, optional RTS/CTS flow control), an I2C block (7-/10-bit addressing, 100 kHz / 400 kHz / 1 MHz SCL, optional slave mode and multi-master arbitration), an SPI block (full-duplex, modes 0–3, configurable word width up to 32 bits, up to four chip-select lines), and a top-level Wrapper &amp; Parameterized block that instantiates all three through Verilog generate constructs, exposes a single APB-Lite slave port to the host processor, arbitrates interrupts, and provides per-protocol clock </a:t>
            </a:r>
            <a:r>
              <a:rPr lang="en-US" dirty="0" err="1">
                <a:solidFill>
                  <a:schemeClr val="tx1"/>
                </a:solidFill>
              </a:rPr>
              <a:t>gating.Compile</a:t>
            </a:r>
            <a:r>
              <a:rPr lang="en-US" dirty="0">
                <a:solidFill>
                  <a:schemeClr val="tx1"/>
                </a:solidFill>
              </a:rPr>
              <a:t>-time parameters govern structural decisions that become permanent at </a:t>
            </a:r>
            <a:r>
              <a:rPr lang="en-US" dirty="0" err="1">
                <a:solidFill>
                  <a:schemeClr val="tx1"/>
                </a:solidFill>
              </a:rPr>
              <a:t>tapeout</a:t>
            </a:r>
            <a:r>
              <a:rPr lang="en-US" dirty="0">
                <a:solidFill>
                  <a:schemeClr val="tx1"/>
                </a:solidFill>
              </a:rPr>
              <a:t>, while runtime parameters such as baud-rate divisor, SPI clock polarity/phase, I2C SCL divider, and interrupt watermarks are stored in a memory-mapped register file and can be written by firmware at any time after power-on.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07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9DDF3-7B7B-4645-B050-4CAC7EB38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Information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78E400-2E2B-40F5-B2E0-F7D4BCFD7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22" y="1090717"/>
            <a:ext cx="6458851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61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924D0-A4EE-40D6-9129-6D1D5AFEC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9ADC6-E901-47D8-BAB5-76D496777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Application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	This controller acts as a reliable digital bridge for embedded systems, enabling seamless data acquisition from various external peripheral modules such as industrial field sensors and debugging terminals.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067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background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dirty="0">
                <a:solidFill>
                  <a:schemeClr val="dk1"/>
                </a:solidFill>
              </a:rPr>
              <a:t>Our team is composed </a:t>
            </a:r>
            <a:r>
              <a:rPr lang="en-US" dirty="0">
                <a:solidFill>
                  <a:schemeClr val="dk1"/>
                </a:solidFill>
              </a:rPr>
              <a:t>of three third year and one second year undergraduate Electrical Engineering Students from </a:t>
            </a:r>
            <a:r>
              <a:rPr lang="en-US" dirty="0" err="1">
                <a:solidFill>
                  <a:schemeClr val="dk1"/>
                </a:solidFill>
              </a:rPr>
              <a:t>Diponegoro</a:t>
            </a:r>
            <a:r>
              <a:rPr lang="en-US" dirty="0">
                <a:solidFill>
                  <a:schemeClr val="dk1"/>
                </a:solidFill>
              </a:rPr>
              <a:t> University, Indonesia. </a:t>
            </a:r>
            <a:r>
              <a:rPr lang="en-US" b="1" dirty="0">
                <a:solidFill>
                  <a:schemeClr val="dk1"/>
                </a:solidFill>
              </a:rPr>
              <a:t>We have no prior IC design Experience.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Questions, Suggestions, Doubts?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390</Words>
  <Application>Microsoft Office PowerPoint</Application>
  <PresentationFormat>On-screen Show (16:9)</PresentationFormat>
  <Paragraphs>21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Simple Light</vt:lpstr>
      <vt:lpstr>&lt;O2A&gt;</vt:lpstr>
      <vt:lpstr>Project information</vt:lpstr>
      <vt:lpstr>Project Overview</vt:lpstr>
      <vt:lpstr>Project Information</vt:lpstr>
      <vt:lpstr>Project Information</vt:lpstr>
      <vt:lpstr>Team background</vt:lpstr>
      <vt:lpstr>Questions, Suggestions, Doubts?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&lt;O2A&gt;</dc:title>
  <cp:lastModifiedBy>tirta aji nugraha</cp:lastModifiedBy>
  <cp:revision>3</cp:revision>
  <dcterms:modified xsi:type="dcterms:W3CDTF">2026-06-03T07:52:45Z</dcterms:modified>
</cp:coreProperties>
</file>